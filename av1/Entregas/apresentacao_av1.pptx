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Holder" userId="df6002e0-f41b-454d-a4a2-17e1eb47bf3f" providerId="ADAL" clId="{EE1FEE9C-B421-4897-B700-D18D60C693F2}"/>
    <pc:docChg chg="custSel modSld">
      <pc:chgData name="Rafael Holder" userId="df6002e0-f41b-454d-a4a2-17e1eb47bf3f" providerId="ADAL" clId="{EE1FEE9C-B421-4897-B700-D18D60C693F2}" dt="2026-10-06T00:25:43.877" v="93" actId="20577"/>
      <pc:docMkLst>
        <pc:docMk/>
      </pc:docMkLst>
      <pc:sldChg chg="modSp mod">
        <pc:chgData name="Rafael Holder" userId="df6002e0-f41b-454d-a4a2-17e1eb47bf3f" providerId="ADAL" clId="{EE1FEE9C-B421-4897-B700-D18D60C693F2}" dt="2026-10-06T00:25:43.877" v="93" actId="20577"/>
        <pc:sldMkLst>
          <pc:docMk/>
          <pc:sldMk cId="0" sldId="257"/>
        </pc:sldMkLst>
        <pc:spChg chg="mod">
          <ac:chgData name="Rafael Holder" userId="df6002e0-f41b-454d-a4a2-17e1eb47bf3f" providerId="ADAL" clId="{EE1FEE9C-B421-4897-B700-D18D60C693F2}" dt="2026-10-06T00:25:43.877" v="93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Rafael Holder" userId="df6002e0-f41b-454d-a4a2-17e1eb47bf3f" providerId="ADAL" clId="{EE1FEE9C-B421-4897-B700-D18D60C693F2}" dt="2026-10-06T00:07:40.841" v="59" actId="20577"/>
          <ac:spMkLst>
            <pc:docMk/>
            <pc:sldMk cId="0" sldId="257"/>
            <ac:spMk id="6" creationId="{00000000-0000-0000-0000-000000000000}"/>
          </ac:spMkLst>
        </pc:spChg>
      </pc:sldChg>
      <pc:sldChg chg="delSp modSp mod">
        <pc:chgData name="Rafael Holder" userId="df6002e0-f41b-454d-a4a2-17e1eb47bf3f" providerId="ADAL" clId="{EE1FEE9C-B421-4897-B700-D18D60C693F2}" dt="2026-10-06T00:09:32.332" v="85" actId="20577"/>
        <pc:sldMkLst>
          <pc:docMk/>
          <pc:sldMk cId="0" sldId="258"/>
        </pc:sldMkLst>
        <pc:spChg chg="mod">
          <ac:chgData name="Rafael Holder" userId="df6002e0-f41b-454d-a4a2-17e1eb47bf3f" providerId="ADAL" clId="{EE1FEE9C-B421-4897-B700-D18D60C693F2}" dt="2026-10-06T00:09:17.810" v="79" actId="20577"/>
          <ac:spMkLst>
            <pc:docMk/>
            <pc:sldMk cId="0" sldId="258"/>
            <ac:spMk id="3" creationId="{00000000-0000-0000-0000-000000000000}"/>
          </ac:spMkLst>
        </pc:spChg>
        <pc:spChg chg="del">
          <ac:chgData name="Rafael Holder" userId="df6002e0-f41b-454d-a4a2-17e1eb47bf3f" providerId="ADAL" clId="{EE1FEE9C-B421-4897-B700-D18D60C693F2}" dt="2026-10-06T00:09:10.053" v="64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Rafael Holder" userId="df6002e0-f41b-454d-a4a2-17e1eb47bf3f" providerId="ADAL" clId="{EE1FEE9C-B421-4897-B700-D18D60C693F2}" dt="2026-10-06T00:09:32.332" v="85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Rafael Holder" userId="df6002e0-f41b-454d-a4a2-17e1eb47bf3f" providerId="ADAL" clId="{EE1FEE9C-B421-4897-B700-D18D60C693F2}" dt="2026-10-06T00:05:00.814" v="35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afael Holder" userId="df6002e0-f41b-454d-a4a2-17e1eb47bf3f" providerId="ADAL" clId="{EE1FEE9C-B421-4897-B700-D18D60C693F2}" dt="2026-10-06T00:06:21.533" v="45" actId="20577"/>
          <ac:spMkLst>
            <pc:docMk/>
            <pc:sldMk cId="0" sldId="258"/>
            <ac:spMk id="11" creationId="{00000000-0000-0000-0000-000000000000}"/>
          </ac:spMkLst>
        </pc:spChg>
      </pc:sldChg>
      <pc:sldChg chg="modNotesTx">
        <pc:chgData name="Rafael Holder" userId="df6002e0-f41b-454d-a4a2-17e1eb47bf3f" providerId="ADAL" clId="{EE1FEE9C-B421-4897-B700-D18D60C693F2}" dt="2026-10-06T00:15:33.975" v="86" actId="20577"/>
        <pc:sldMkLst>
          <pc:docMk/>
          <pc:sldMk cId="0" sldId="259"/>
        </pc:sldMkLst>
      </pc:sldChg>
      <pc:sldChg chg="modSp mod">
        <pc:chgData name="Rafael Holder" userId="df6002e0-f41b-454d-a4a2-17e1eb47bf3f" providerId="ADAL" clId="{EE1FEE9C-B421-4897-B700-D18D60C693F2}" dt="2026-10-05T23:56:16.547" v="17" actId="1038"/>
        <pc:sldMkLst>
          <pc:docMk/>
          <pc:sldMk cId="0" sldId="262"/>
        </pc:sldMkLst>
        <pc:spChg chg="mod">
          <ac:chgData name="Rafael Holder" userId="df6002e0-f41b-454d-a4a2-17e1eb47bf3f" providerId="ADAL" clId="{EE1FEE9C-B421-4897-B700-D18D60C693F2}" dt="2026-10-05T23:56:16.547" v="17" actId="1038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Rafael Holder" userId="df6002e0-f41b-454d-a4a2-17e1eb47bf3f" providerId="ADAL" clId="{EE1FEE9C-B421-4897-B700-D18D60C693F2}" dt="2026-10-05T23:24:38.399" v="1" actId="20577"/>
        <pc:sldMkLst>
          <pc:docMk/>
          <pc:sldMk cId="0" sldId="263"/>
        </pc:sldMkLst>
        <pc:spChg chg="mod">
          <ac:chgData name="Rafael Holder" userId="df6002e0-f41b-454d-a4a2-17e1eb47bf3f" providerId="ADAL" clId="{EE1FEE9C-B421-4897-B700-D18D60C693F2}" dt="2026-10-05T23:24:38.399" v="1" actId="20577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212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Apresentar o tema: detector de malware do notebook 5 e a pergunta que guia os experimentos.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≈45 s. Notebook 5: RF detectando malware em executáveis Windows, base UCI 541, 90,5% malware. Célula de auditoria: das ~112 mil células de entropia/imports, só 2 são diferentes de zero — é dado ausente. Importâncias: entropia e imports = 0; o modelo decide só com tamanho e layout do arquivo.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≈30 s. Não editei nenhuma célula original (é o "antes"). Mesmo split, mesma seed (42), mesmos hiperparâmetros; cada experimento muda só uma coisa. O limiar é sempre escolhido na validação; o teste apenas reporta.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≈1 min. Split por procedência: treino com malware de uma fonte, teste na outra. ROC-AUC cai de 0,973 para 0,871 (VxHeaven→VirusTotal) e 0,901 (inverso); recall de malware a 0,50 de 0,963 para 0,606 e 0,867. PR-AUC fica alto (0,982/0,984) pelo piso de 90% malware. Parte do acerto vinha de reconhecer a procedência, não malware em geral.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≈30 s. Tabela: split aleatório vs duas direções por fonte. O PR-AUC quase não cai (piso alto), mas o ROC-AUC e o recall de malware a 0,50 caem bastante — o modelo não generaliza bem entre procedências.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≈45 s. Viés de origem, base antiga, split aleatório, só 119 benignos no teste (cada FP vale ~0,84 ponto). Conclusão: o número alto do notebook original é otimista. Para produção: base temporal (EMBER/BODMAS), features de comportamento não zeradas e custo definido com o SOC.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Perguntas prováveis:</a:t>
            </a:r>
          </a:p>
          <a:p>
            <a:r>
              <a:t>1) Por que a 1b piorou o benigno e não o malware? As features removidas descrevem o padrão dos programas instalados; sem elas o modelo deixa de reconhecer "cara de software legítimo". Malware é 90% da base, então o recall de malware fica alto quase por padrão.</a:t>
            </a:r>
          </a:p>
          <a:p>
            <a:r>
              <a:t>2) Por que no split por procedência não calibrou o limiar? O objetivo é medir generalização; PR-AUC e ROC-AUC independem de limiar. O recall a 0,50 é só ilustração.</a:t>
            </a:r>
          </a:p>
          <a:p>
            <a:r>
              <a:t>3) Usou o teste para escolher algo? Não. Na Alt. 1 os limiares (0,40, 0,41) saem da validação; na Alt. 2 não calibro limiar (0,50 fixo) e comparo PR-AUC/ROC-AUC.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37160" cy="23774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Detector de malware com Random Forest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0">
                <a:solidFill>
                  <a:srgbClr val="8FD3D2"/>
                </a:solidFill>
                <a:latin typeface="Calibri"/>
              </a:rPr>
              <a:t>O modelo detecta malware… ou detecta de onde o arquivo veio?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C8D0D8"/>
                </a:solidFill>
                <a:latin typeface="Calibri"/>
              </a:rPr>
              <a:t>Base UCI 541 (VxHeaven + VirusTotal) · notebook da Aula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C8D0D8"/>
                </a:solidFill>
                <a:latin typeface="Calibri"/>
              </a:rPr>
              <a:t>Rafael Holder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C8D0D8"/>
                </a:solidFill>
                <a:latin typeface="Calibri"/>
              </a:rPr>
              <a:t>AV1 · IA para Cibersegurança · CESAR School 2026.2 · Prof. Raphael Crespo Pereira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3353"/>
            <a:ext cx="112471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dirty="0" err="1">
                <a:solidFill>
                  <a:srgbClr val="FFFFFF"/>
                </a:solidFill>
                <a:latin typeface="Calibri"/>
              </a:rPr>
              <a:t>Contexto</a:t>
            </a:r>
            <a:r>
              <a:rPr sz="3000" b="1" dirty="0">
                <a:solidFill>
                  <a:srgbClr val="FFFFFF"/>
                </a:solidFill>
                <a:latin typeface="Calibri"/>
              </a:rPr>
              <a:t> e </a:t>
            </a:r>
            <a:r>
              <a:rPr lang="en-US" sz="3000" b="1" dirty="0" err="1">
                <a:solidFill>
                  <a:srgbClr val="FFFFFF"/>
                </a:solidFill>
                <a:latin typeface="Calibri"/>
              </a:rPr>
              <a:t>A</a:t>
            </a:r>
            <a:r>
              <a:rPr sz="3000" b="1" dirty="0" err="1">
                <a:solidFill>
                  <a:srgbClr val="FFFFFF"/>
                </a:solidFill>
                <a:latin typeface="Calibri"/>
              </a:rPr>
              <a:t>chado</a:t>
            </a:r>
            <a:r>
              <a:rPr lang="en-US" sz="3000" b="1" dirty="0" err="1">
                <a:solidFill>
                  <a:srgbClr val="FFFFFF"/>
                </a:solidFill>
                <a:latin typeface="Calibri"/>
              </a:rPr>
              <a:t>s</a:t>
            </a:r>
            <a:endParaRPr sz="3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F6B76"/>
                </a:solidFill>
                <a:latin typeface="Calibri"/>
              </a:rPr>
              <a:t>Random Forest · executáveis Windows · 6.248 amostras · 90,5% malware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F6B76"/>
                </a:solidFill>
                <a:latin typeface="Calibri"/>
              </a:rPr>
              <a:t>AV1 · IA para Cibersegurança · CESAR School 2026.2   |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669280" cy="34265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7B"/>
                </a:solidFill>
                <a:latin typeface="Calibri"/>
              </a:rPr>
              <a:t>▪  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28 features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em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3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famílias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: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estrutura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,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entropia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/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seções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e imports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7B"/>
                </a:solidFill>
                <a:latin typeface="Calibri"/>
              </a:rPr>
              <a:t>▪  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Auditoria: das </a:t>
            </a:r>
            <a:r>
              <a:rPr lang="en-US" sz="1900" dirty="0" err="1">
                <a:solidFill>
                  <a:srgbClr val="1F2A36"/>
                </a:solidFill>
                <a:latin typeface="Calibri"/>
              </a:rPr>
              <a:t>células</a:t>
            </a:r>
            <a:r>
              <a:rPr lang="en-US" sz="1900" dirty="0">
                <a:solidFill>
                  <a:srgbClr val="1F2A36"/>
                </a:solidFill>
                <a:latin typeface="Calibri"/>
              </a:rPr>
              <a:t> 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de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entropia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/imports, </a:t>
            </a:r>
            <a:r>
              <a:rPr sz="1900" b="1" dirty="0" err="1">
                <a:solidFill>
                  <a:srgbClr val="C1495B"/>
                </a:solidFill>
                <a:latin typeface="Calibri"/>
              </a:rPr>
              <a:t>só</a:t>
            </a:r>
            <a:r>
              <a:rPr sz="1900" b="1" dirty="0">
                <a:solidFill>
                  <a:srgbClr val="C1495B"/>
                </a:solidFill>
                <a:latin typeface="Calibri"/>
              </a:rPr>
              <a:t> 2 </a:t>
            </a:r>
            <a:r>
              <a:rPr sz="1900" b="1" dirty="0" err="1">
                <a:solidFill>
                  <a:srgbClr val="C1495B"/>
                </a:solidFill>
                <a:latin typeface="Calibri"/>
              </a:rPr>
              <a:t>são</a:t>
            </a:r>
            <a:r>
              <a:rPr sz="1900" b="1" dirty="0">
                <a:solidFill>
                  <a:srgbClr val="C1495B"/>
                </a:solidFill>
                <a:latin typeface="Calibri"/>
              </a:rPr>
              <a:t> ≠ 0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7B"/>
                </a:solidFill>
                <a:latin typeface="Calibri"/>
              </a:rPr>
              <a:t>▪  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Todo PE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tem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ao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menos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uma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seção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→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os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zeros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são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900" b="1" dirty="0">
                <a:solidFill>
                  <a:srgbClr val="1F2A36"/>
                </a:solidFill>
                <a:latin typeface="Calibri"/>
              </a:rPr>
              <a:t>dado </a:t>
            </a:r>
            <a:r>
              <a:rPr sz="1900" b="1" dirty="0" err="1">
                <a:solidFill>
                  <a:srgbClr val="1F2A36"/>
                </a:solidFill>
                <a:latin typeface="Calibri"/>
              </a:rPr>
              <a:t>ausente</a:t>
            </a:r>
            <a:endParaRPr sz="1900" b="1" dirty="0">
              <a:solidFill>
                <a:srgbClr val="1F2A36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7B"/>
                </a:solidFill>
                <a:latin typeface="Calibri"/>
              </a:rPr>
              <a:t>▪ 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Importância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de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entropia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e imports = 0: o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modelo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decide </a:t>
            </a:r>
            <a:r>
              <a:rPr sz="1900" b="1" dirty="0" err="1">
                <a:solidFill>
                  <a:srgbClr val="C1495B"/>
                </a:solidFill>
                <a:latin typeface="Calibri"/>
              </a:rPr>
              <a:t>só</a:t>
            </a:r>
            <a:r>
              <a:rPr sz="1900" b="1" dirty="0">
                <a:solidFill>
                  <a:srgbClr val="C1495B"/>
                </a:solidFill>
                <a:latin typeface="Calibri"/>
              </a:rPr>
              <a:t> com </a:t>
            </a:r>
            <a:r>
              <a:rPr sz="1900" b="1" dirty="0" err="1">
                <a:solidFill>
                  <a:srgbClr val="C1495B"/>
                </a:solidFill>
                <a:latin typeface="Calibri"/>
              </a:rPr>
              <a:t>tamanho</a:t>
            </a:r>
            <a:r>
              <a:rPr sz="1900" b="1" dirty="0">
                <a:solidFill>
                  <a:srgbClr val="C1495B"/>
                </a:solidFill>
                <a:latin typeface="Calibri"/>
              </a:rPr>
              <a:t> e layout</a:t>
            </a:r>
          </a:p>
          <a:p>
            <a:pPr algn="l">
              <a:spcAft>
                <a:spcPts val="800"/>
              </a:spcAft>
            </a:pPr>
            <a:r>
              <a:rPr sz="1900" b="1" dirty="0">
                <a:solidFill>
                  <a:srgbClr val="0E7C7B"/>
                </a:solidFill>
                <a:latin typeface="Calibri"/>
              </a:rPr>
              <a:t>▪  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Benignos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vêm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todos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 de Program Files (Win 7/8); malware de 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VxHeaven</a:t>
            </a:r>
            <a:r>
              <a:rPr sz="1900" b="0" dirty="0">
                <a:solidFill>
                  <a:srgbClr val="1F2A36"/>
                </a:solidFill>
                <a:latin typeface="Calibri"/>
              </a:rPr>
              <a:t>/</a:t>
            </a:r>
            <a:r>
              <a:rPr sz="1900" b="0" dirty="0" err="1">
                <a:solidFill>
                  <a:srgbClr val="1F2A36"/>
                </a:solidFill>
                <a:latin typeface="Calibri"/>
              </a:rPr>
              <a:t>VirusTotal</a:t>
            </a:r>
            <a:endParaRPr sz="1900" b="0" dirty="0">
              <a:solidFill>
                <a:srgbClr val="1F2A36"/>
              </a:solidFill>
              <a:latin typeface="Calibri"/>
            </a:endParaRPr>
          </a:p>
        </p:txBody>
      </p:sp>
      <p:pic>
        <p:nvPicPr>
          <p:cNvPr id="7" name="Picture 6" descr="c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486400" cy="38137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3353"/>
            <a:ext cx="1124712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dirty="0" err="1">
                <a:solidFill>
                  <a:srgbClr val="FFFFFF"/>
                </a:solidFill>
                <a:latin typeface="Calibri"/>
              </a:rPr>
              <a:t>Regras</a:t>
            </a:r>
            <a:r>
              <a:rPr lang="en-US" sz="3000" b="1" dirty="0">
                <a:solidFill>
                  <a:srgbClr val="FFFFFF"/>
                </a:solidFill>
                <a:latin typeface="Calibri"/>
              </a:rPr>
              <a:t> dos testes</a:t>
            </a:r>
            <a:endParaRPr sz="30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F6B76"/>
                </a:solidFill>
                <a:latin typeface="Calibri"/>
              </a:rPr>
              <a:t>AV1 · IA para Cibersegurança · CESAR School 2026.2   |  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474720" cy="82296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Antes preservado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3474720" cy="256032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800" b="0" dirty="0" err="1">
                <a:solidFill>
                  <a:srgbClr val="1F2A36"/>
                </a:solidFill>
                <a:latin typeface="Calibri"/>
              </a:rPr>
              <a:t>Nenhuma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célula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original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foi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editada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.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Os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lang="en-US" sz="1800" b="0" dirty="0">
                <a:solidFill>
                  <a:srgbClr val="1F2A36"/>
                </a:solidFill>
                <a:latin typeface="Calibri"/>
              </a:rPr>
              <a:t>testes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ficam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numa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seção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nova no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fim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do notebook.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28800"/>
            <a:ext cx="3474720" cy="82296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Mesmas condições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743200"/>
            <a:ext cx="3474720" cy="256032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800" b="0">
                <a:solidFill>
                  <a:srgbClr val="1F2A36"/>
                </a:solidFill>
                <a:latin typeface="Calibri"/>
              </a:rPr>
              <a:t>Mesmo split 60/20/20, RANDOM_SEED = 42 e mesmos hiperparâmetros (250 árvores, min_samples_leaf=2, class_weight=balanced).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828800"/>
            <a:ext cx="3474720" cy="82296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Teste </a:t>
            </a:r>
            <a:r>
              <a:rPr lang="en-US" sz="2200" b="1" dirty="0" err="1">
                <a:solidFill>
                  <a:srgbClr val="FFFFFF"/>
                </a:solidFill>
                <a:latin typeface="Calibri"/>
              </a:rPr>
              <a:t>não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interfere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46719" y="2743200"/>
            <a:ext cx="3474720" cy="256032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800" b="0" dirty="0">
                <a:solidFill>
                  <a:srgbClr val="1F2A36"/>
                </a:solidFill>
                <a:latin typeface="Calibri"/>
              </a:rPr>
              <a:t>Todo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limiar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é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escolhido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na</a:t>
            </a:r>
            <a:r>
              <a:rPr lang="en-US" sz="1800" b="0" dirty="0" err="1">
                <a:solidFill>
                  <a:srgbClr val="1F2A36"/>
                </a:solidFill>
                <a:latin typeface="Calibri"/>
              </a:rPr>
              <a:t>parte</a:t>
            </a:r>
            <a:r>
              <a:rPr lang="en-US" sz="1800" b="0" dirty="0">
                <a:solidFill>
                  <a:srgbClr val="1F2A36"/>
                </a:solidFill>
                <a:latin typeface="Calibri"/>
              </a:rPr>
              <a:t> da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validação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. O conjunto de teste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aparece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apenas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na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tabela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final.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Alteração 1 —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F6B76"/>
                </a:solidFill>
                <a:latin typeface="Calibri"/>
              </a:rPr>
              <a:t>Retirar as features zeradas e depois as que “denunciam” a origem da coleta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F6B76"/>
                </a:solidFill>
                <a:latin typeface="Calibri"/>
              </a:rPr>
              <a:t>AV1 · IA para Cibersegurança · CESAR School 2026.2   |  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Variante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nº feat.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limiar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recall benigno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0,37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0,832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0,973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0,997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1a: sem as 18 zeradas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0,40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0,832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0,974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0,997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1b: sem zeradas e sem origem*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0,41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1495B"/>
                          </a:solidFill>
                        </a:defRPr>
                      </a:pPr>
                      <a:r>
                        <a:t>0,588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1495B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C1495B"/>
                          </a:solidFill>
                        </a:defRPr>
                      </a:pPr>
                      <a:r>
                        <a:t>0,944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1F2A36"/>
                          </a:solidFill>
                        </a:defRPr>
                      </a:pPr>
                      <a:r>
                        <a:t>0,994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5F6B76"/>
                </a:solidFill>
                <a:latin typeface="Calibri"/>
              </a:rPr>
              <a:t>* origem: image_base, file_alignment, section_alignment, size_of_headers, size_of_optional_header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800" b="1" dirty="0">
                <a:solidFill>
                  <a:srgbClr val="0E7C7B"/>
                </a:solidFill>
                <a:latin typeface="Calibri"/>
              </a:rPr>
              <a:t>1a = original  </a:t>
            </a:r>
          </a:p>
          <a:p>
            <a:pPr algn="l"/>
            <a:r>
              <a:rPr sz="1800" b="0" dirty="0">
                <a:solidFill>
                  <a:srgbClr val="1F2A36"/>
                </a:solidFill>
                <a:latin typeface="Calibri"/>
              </a:rPr>
              <a:t>As features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zeradas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eram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só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ruído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C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1b: recall de benigno 0,83 → 0,59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O modelo reconhecia a “cara” do Program Files do Win 7/8: detecta parte da origem, não só malware. E essas features são baratas de evadir.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Alteração 2 — Avaliação por procedência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F6B76"/>
                </a:solidFill>
                <a:latin typeface="Calibri"/>
              </a:rPr>
              <a:t>Treino com malware de uma fonte, teste na outra — generalização sem vazamento de fonte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F6B76"/>
                </a:solidFill>
                <a:latin typeface="Calibri"/>
              </a:rPr>
              <a:t>AV1 · IA para Cibersegurança · CESAR School 2026.2   |   5</a:t>
            </a:r>
          </a:p>
        </p:txBody>
      </p:sp>
      <p:pic>
        <p:nvPicPr>
          <p:cNvPr id="6" name="Picture 5" descr="c19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6949440" cy="296060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73736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ROC-AUC   </a:t>
            </a:r>
            <a:r>
              <a:rPr sz="1900" b="1">
                <a:solidFill>
                  <a:srgbClr val="FFFFFF"/>
                </a:solidFill>
                <a:latin typeface="Calibri"/>
              </a:rPr>
              <a:t>0,973 → 0,87–0,90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51460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Recall malware (0,50)   </a:t>
            </a:r>
            <a:r>
              <a:rPr sz="1900" b="1">
                <a:solidFill>
                  <a:srgbClr val="FFFFFF"/>
                </a:solidFill>
                <a:latin typeface="Calibri"/>
              </a:rPr>
              <a:t>0,963 → 0,61–0,87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291839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C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PR-AUC   </a:t>
            </a:r>
            <a:r>
              <a:rPr sz="1900" b="1">
                <a:solidFill>
                  <a:srgbClr val="FFFFFF"/>
                </a:solidFill>
                <a:latin typeface="Calibri"/>
              </a:rPr>
              <a:t>0,997 → 0,98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069079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900" b="0">
                <a:solidFill>
                  <a:srgbClr val="FFFFFF"/>
                </a:solidFill>
                <a:latin typeface="Calibri"/>
              </a:rPr>
              <a:t>Malware não detectado   </a:t>
            </a:r>
            <a:r>
              <a:rPr sz="1900" b="1">
                <a:solidFill>
                  <a:srgbClr val="FFFFFF"/>
                </a:solidFill>
                <a:latin typeface="Calibri"/>
              </a:rPr>
              <a:t>~4% → 39%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83480"/>
            <a:ext cx="11247120" cy="1143000"/>
          </a:xfrm>
          <a:prstGeom prst="roundRect">
            <a:avLst>
              <a:gd name="adj" fmla="val 8000"/>
            </a:avLst>
          </a:prstGeom>
          <a:solidFill>
            <a:srgbClr val="EE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800" b="1">
                <a:solidFill>
                  <a:srgbClr val="C1495B"/>
                </a:solidFill>
                <a:latin typeface="Calibri"/>
              </a:rPr>
              <a:t>Achado: </a:t>
            </a:r>
            <a:r>
              <a:rPr sz="1800" b="0">
                <a:solidFill>
                  <a:srgbClr val="1F2A36"/>
                </a:solidFill>
                <a:latin typeface="Calibri"/>
              </a:rPr>
              <a:t>treinar numa fonte e testar na outra </a:t>
            </a:r>
            <a:r>
              <a:rPr sz="1800" b="1">
                <a:solidFill>
                  <a:srgbClr val="1F2A36"/>
                </a:solidFill>
                <a:latin typeface="Calibri"/>
              </a:rPr>
              <a:t>derruba o ROC-AUC e o recall de malware</a:t>
            </a:r>
            <a:r>
              <a:rPr sz="1800" b="0">
                <a:solidFill>
                  <a:srgbClr val="1F2A36"/>
                </a:solidFill>
                <a:latin typeface="Calibri"/>
              </a:rPr>
              <a:t> — parte do acerto vinha de reconhecer a procedência, não malware em geral. Confirma o viés de origem da Alt.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Antes × depois (conjunto de teste)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F6B76"/>
                </a:solidFill>
                <a:latin typeface="Calibri"/>
              </a:rPr>
              <a:t>Split aleatório × split por procedência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F6B76"/>
                </a:solidFill>
                <a:latin typeface="Calibri"/>
              </a:rPr>
              <a:t>AV1 · IA para Cibersegurança · CESAR School 2026.2   |   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Experimento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feat.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limiar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recall mal.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recall ben.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FN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FP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1F2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Original (28 features)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0,37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0,963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0,832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0,973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0,997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Alt. 1a: sem zeradas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0,958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Alt. 1b: sem zeradas e sem origem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0,41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0,959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1495B"/>
                          </a:solidFill>
                        </a:defRPr>
                      </a:pPr>
                      <a:r>
                        <a:t>0,588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1495B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0,944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0,994</a:t>
                      </a:r>
                    </a:p>
                  </a:txBody>
                  <a:tcPr>
                    <a:solidFill>
                      <a:srgbClr val="EE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Alt. 2: treino VxH / teste VT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1495B"/>
                          </a:solidFill>
                        </a:defRPr>
                      </a:pPr>
                      <a:r>
                        <a:t>0,943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1495B"/>
                          </a:solidFill>
                        </a:defRPr>
                      </a:pPr>
                      <a:r>
                        <a:t>1163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1495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1495B"/>
                          </a:solidFill>
                        </a:defRPr>
                      </a:pPr>
                      <a:r>
                        <a:t>0,982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Alt. 2: treino VT / teste VxH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1495B"/>
                          </a:solidFill>
                        </a:defRPr>
                      </a:pPr>
                      <a:r>
                        <a:t>0,799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1495B"/>
                          </a:solidFill>
                        </a:defRPr>
                      </a:pPr>
                      <a:r>
                        <a:t>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1495B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1F2A36"/>
                          </a:solidFill>
                        </a:defRPr>
                      </a:pPr>
                      <a:r>
                        <a:t>0,901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C1495B"/>
                          </a:solidFill>
                        </a:defRPr>
                      </a:pPr>
                      <a:r>
                        <a:t>0,984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5F6B76"/>
                </a:solidFill>
                <a:latin typeface="Calibri"/>
              </a:rPr>
              <a:t>O PR-AUC fica alto pelo piso de 90% de malware; o que cai é o ROC-AUC (0,973 → 0,87–0,90) e o recall de malware a 0,50 (0,963 → 0,61–0,87). O modelo não generaliza bem entre procedências — confirma o viés de origem da Alteração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Limitações e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100" b="0">
                <a:solidFill>
                  <a:srgbClr val="5F6B76"/>
                </a:solidFill>
                <a:latin typeface="Calibri"/>
              </a:rPr>
              <a:t>AV1 · IA para Cibersegurança · CESAR School 2026.2   |  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E7C7B"/>
                </a:solidFill>
                <a:latin typeface="Calibri"/>
              </a:rPr>
              <a:t>Limitações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" y="182880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7B"/>
                </a:solidFill>
                <a:latin typeface="Calibri"/>
              </a:rPr>
              <a:t>▪  </a:t>
            </a:r>
            <a:r>
              <a:rPr sz="1800" b="1">
                <a:solidFill>
                  <a:srgbClr val="1F2A36"/>
                </a:solidFill>
                <a:latin typeface="Calibri"/>
              </a:rPr>
              <a:t>Viés de origem: </a:t>
            </a:r>
            <a:r>
              <a:rPr sz="1800" b="0">
                <a:solidFill>
                  <a:srgbClr val="1F2A36"/>
                </a:solidFill>
                <a:latin typeface="Calibri"/>
              </a:rPr>
              <a:t>fonte da coleta ≈ rótulo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7B"/>
                </a:solidFill>
                <a:latin typeface="Calibri"/>
              </a:rPr>
              <a:t>▪  </a:t>
            </a:r>
            <a:r>
              <a:rPr sz="1800" b="1">
                <a:solidFill>
                  <a:srgbClr val="1F2A36"/>
                </a:solidFill>
                <a:latin typeface="Calibri"/>
              </a:rPr>
              <a:t>Base antiga: </a:t>
            </a:r>
            <a:r>
              <a:rPr sz="1800" b="0">
                <a:solidFill>
                  <a:srgbClr val="1F2A36"/>
                </a:solidFill>
                <a:latin typeface="Calibri"/>
              </a:rPr>
              <a:t>VxHeaven/2018 e benignos do Win 7/8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7B"/>
                </a:solidFill>
                <a:latin typeface="Calibri"/>
              </a:rPr>
              <a:t>▪  </a:t>
            </a:r>
            <a:r>
              <a:rPr sz="1800" b="1">
                <a:solidFill>
                  <a:srgbClr val="1F2A36"/>
                </a:solidFill>
                <a:latin typeface="Calibri"/>
              </a:rPr>
              <a:t>Split por fonte (Alt. 2): </a:t>
            </a:r>
            <a:r>
              <a:rPr sz="1800" b="0">
                <a:solidFill>
                  <a:srgbClr val="1F2A36"/>
                </a:solidFill>
                <a:latin typeface="Calibri"/>
              </a:rPr>
              <a:t>benigno é fonte única; família pode vazar dentro da fonte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0E7C7B"/>
                </a:solidFill>
                <a:latin typeface="Calibri"/>
              </a:rPr>
              <a:t>▪  </a:t>
            </a:r>
            <a:r>
              <a:rPr sz="1800" b="1">
                <a:solidFill>
                  <a:srgbClr val="1F2A36"/>
                </a:solidFill>
                <a:latin typeface="Calibri"/>
              </a:rPr>
              <a:t>Poucos benignos: </a:t>
            </a:r>
            <a:r>
              <a:rPr sz="1800" b="0">
                <a:solidFill>
                  <a:srgbClr val="1F2A36"/>
                </a:solidFill>
                <a:latin typeface="Calibri"/>
              </a:rPr>
              <a:t>119 no teste; cada FP ≈ 0,84 p.p.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0E7C7B"/>
                </a:solidFill>
                <a:latin typeface="Calibri"/>
              </a:rPr>
              <a:t>Conclusão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C14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 número alto do notebook original é otimista: </a:t>
            </a:r>
            <a:r>
              <a:rPr sz="1800" b="0">
                <a:solidFill>
                  <a:srgbClr val="FFFFFF"/>
                </a:solidFill>
                <a:latin typeface="Calibri"/>
              </a:rPr>
              <a:t>parte dele vem de reconhecer a origem dos arquivos.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52044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2A36"/>
                </a:solidFill>
                <a:latin typeface="Calibri"/>
              </a:rPr>
              <a:t>Para produção, eu usaria: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977639"/>
            <a:ext cx="53949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0E7C7B"/>
                </a:solidFill>
                <a:latin typeface="Calibri"/>
              </a:rPr>
              <a:t>▪  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Base temporal (EMBER / BODMAS)</a:t>
            </a: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0E7C7B"/>
                </a:solidFill>
                <a:latin typeface="Calibri"/>
              </a:rPr>
              <a:t>▪  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Features de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comportamento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não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zeradas</a:t>
            </a:r>
            <a:endParaRPr sz="1800" b="0" dirty="0">
              <a:solidFill>
                <a:srgbClr val="1F2A36"/>
              </a:solidFill>
              <a:latin typeface="Calibri"/>
            </a:endParaRPr>
          </a:p>
          <a:p>
            <a:pPr algn="l">
              <a:spcAft>
                <a:spcPts val="800"/>
              </a:spcAft>
            </a:pPr>
            <a:r>
              <a:rPr sz="1800" b="1" dirty="0">
                <a:solidFill>
                  <a:srgbClr val="0E7C7B"/>
                </a:solidFill>
                <a:latin typeface="Calibri"/>
              </a:rPr>
              <a:t>▪ 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Custo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FN:FP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definido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com o SOC + </a:t>
            </a:r>
            <a:r>
              <a:rPr sz="1800" b="0" dirty="0" err="1">
                <a:solidFill>
                  <a:srgbClr val="1F2A36"/>
                </a:solidFill>
                <a:latin typeface="Calibri"/>
              </a:rPr>
              <a:t>teto</a:t>
            </a:r>
            <a:r>
              <a:rPr sz="1800" b="0" dirty="0">
                <a:solidFill>
                  <a:srgbClr val="1F2A36"/>
                </a:solidFill>
                <a:latin typeface="Calibri"/>
              </a:rPr>
              <a:t> de FP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400" b="1" dirty="0" err="1">
                <a:solidFill>
                  <a:srgbClr val="FFFFFF"/>
                </a:solidFill>
                <a:latin typeface="Calibri"/>
              </a:rPr>
              <a:t>Obrigado</a:t>
            </a:r>
            <a:r>
              <a:rPr sz="4400" b="1" dirty="0">
                <a:solidFill>
                  <a:srgbClr val="FFFFFF"/>
                </a:solidFill>
                <a:latin typeface="Calibri"/>
              </a:rPr>
              <a:t>!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800" b="0" dirty="0">
                <a:solidFill>
                  <a:srgbClr val="8FD3D2"/>
                </a:solidFill>
                <a:latin typeface="Calibri"/>
              </a:rPr>
              <a:t>Rafael Holder · github.com/</a:t>
            </a:r>
            <a:r>
              <a:rPr sz="1800" b="0" dirty="0" err="1">
                <a:solidFill>
                  <a:srgbClr val="8FD3D2"/>
                </a:solidFill>
                <a:latin typeface="Calibri"/>
              </a:rPr>
              <a:t>rafaelholder</a:t>
            </a:r>
            <a:endParaRPr sz="1800" b="0" dirty="0">
              <a:solidFill>
                <a:srgbClr val="8FD3D2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1203</Words>
  <Application>Microsoft Office PowerPoint</Application>
  <PresentationFormat>Widescreen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Rafael Holder</cp:lastModifiedBy>
  <cp:revision>1</cp:revision>
  <dcterms:created xsi:type="dcterms:W3CDTF">2013-01-27T09:14:16Z</dcterms:created>
  <dcterms:modified xsi:type="dcterms:W3CDTF">2026-10-06T00:25:47Z</dcterms:modified>
  <cp:category/>
</cp:coreProperties>
</file>